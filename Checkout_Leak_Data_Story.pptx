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Beauty</c:v>
                  </c:pt>
                  <c:pt idx="1">
                    <c:v>Home &amp; Kitchen</c:v>
                  </c:pt>
                  <c:pt idx="2">
                    <c:v>Toys</c:v>
                  </c:pt>
                  <c:pt idx="3">
                    <c:v>Clothing</c:v>
                  </c:pt>
                  <c:pt idx="4">
                    <c:v>Sports</c:v>
                  </c:pt>
                  <c:pt idx="5">
                    <c:v>Electronics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81307.68</c:v>
                </c:pt>
                <c:pt idx="1">
                  <c:v>55666.31</c:v>
                </c:pt>
                <c:pt idx="2">
                  <c:v>44261.11</c:v>
                </c:pt>
                <c:pt idx="3">
                  <c:v>41993.16</c:v>
                </c:pt>
                <c:pt idx="4">
                  <c:v>28195.12</c:v>
                </c:pt>
                <c:pt idx="5">
                  <c:v>17216.12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DC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</c:v>
                </c:pt>
                <c:pt idx="1">
                  <c:v>17</c:v>
                </c:pt>
                <c:pt idx="2">
                  <c:v>24</c:v>
                </c:pt>
                <c:pt idx="3">
                  <c:v>14</c:v>
                </c:pt>
                <c:pt idx="4">
                  <c:v>21</c:v>
                </c:pt>
                <c:pt idx="5">
                  <c:v>18</c:v>
                </c:pt>
                <c:pt idx="6">
                  <c:v>17</c:v>
                </c:pt>
                <c:pt idx="7">
                  <c:v>17</c:v>
                </c:pt>
                <c:pt idx="8">
                  <c:v>18</c:v>
                </c:pt>
                <c:pt idx="9">
                  <c:v>18</c:v>
                </c:pt>
                <c:pt idx="10">
                  <c:v>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43F"/>
              </a:solidFill>
              <a:effectLst/>
            </c:spPr>
          </c:dPt>
          <c:dPt>
            <c:idx val="1"/>
            <c:bubble3D val="0"/>
            <c:spPr>
              <a:solidFill>
                <a:srgbClr val="F4A30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Failed</c:v>
                </c:pt>
                <c:pt idx="1">
                  <c:v>Pending</c:v>
                </c:pt>
                <c:pt idx="2">
                  <c:v>Success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71</c:v>
                </c:pt>
                <c:pt idx="1">
                  <c:v>61</c:v>
                </c:pt>
                <c:pt idx="2">
                  <c:v>68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E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4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Debit Card</c:v>
                  </c:pt>
                  <c:pt idx="1">
                    <c:v>Credit Card</c:v>
                  </c:pt>
                  <c:pt idx="2">
                    <c:v>UPI</c:v>
                  </c:pt>
                  <c:pt idx="3">
                    <c:v>Net Banking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43.4</c:v>
                </c:pt>
                <c:pt idx="1">
                  <c:v>35.7</c:v>
                </c:pt>
                <c:pt idx="2">
                  <c:v>29.2</c:v>
                </c:pt>
                <c:pt idx="3">
                  <c:v>25.6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DC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3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Debit Card (n=53)</c:v>
                  </c:pt>
                  <c:pt idx="1">
                    <c:v>UPI (n=48)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462.72</c:v>
                </c:pt>
                <c:pt idx="1">
                  <c:v>450.55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9525" cap="flat">
              <a:solidFill>
                <a:srgbClr val="DC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hyperlink" Target="https://github.com/habibakhan-3932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hyperlink" Target="https://github.com/habibakhan-3932" TargetMode="External"/><Relationship Id="rId3" Type="http://schemas.openxmlformats.org/officeDocument/2006/relationships/hyperlink" Target="https://www.linkedin.com/in/habiba-khan-02216a328" TargetMode="Externa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8869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965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Checkout Leak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Payment Friction Into Recovered Revenue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51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a 200-order e-commerce dataset —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products, orders, and payments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to explain why realized revenue trails booked revenue, and what to do about it.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806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Habiba Khan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— Python · Pandas · Power BI · SQL</a:t>
            </a:r>
            <a:endParaRPr lang="en-US" sz="12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github.com/habibakhan-3932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Healthy. Realization Is Not.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6032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$89,467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96112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VALUE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32644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orders across 6 categories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2E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47672"/>
            <a:ext cx="548640" cy="548640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56032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$31,204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4599432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ACTUALLY CAPTURED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99432" y="32644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34% of orders marked Success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1947672"/>
            <a:ext cx="548640" cy="548640"/>
          </a:xfrm>
          <a:prstGeom prst="ellipse">
            <a:avLst/>
          </a:prstGeom>
          <a:solidFill>
            <a:srgbClr val="FDEEE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256032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$58,263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8302752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02752" y="32644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stuck in Failed / Pending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88620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0A2E36"/>
          </a:solidFill>
          <a:ln/>
        </p:spPr>
      </p:sp>
      <p:sp>
        <p:nvSpPr>
          <p:cNvPr id="23" name="Text 18"/>
          <p:cNvSpPr/>
          <p:nvPr/>
        </p:nvSpPr>
        <p:spPr>
          <a:xfrm>
            <a:off x="9601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60120" y="4480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Beauty, Home &amp; Kitchen, and Toys drive most of the order book, and order volume held steady across 2025 — the demand side of this business works. But two out of every three transaction dollars never clear the payment funnel: they're stuck in Failed or Pending status. Statistical testing confirms this failure pattern is not evenly spread across payment methods, and that it is a conversion problem, not a customer-spend problem — average order value is the same regardless of method used.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Set Out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consolidates the customer, product, order, and payment analysis performed in Parts 1–3 into a single, decision-ready narrative — then adds statistical rigor so the recommendations hold up under scrutiny, not just intuition.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EFF8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0906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Revenue Drivers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1440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categories, products, and customers generate the business's revenue 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6974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EFF8F8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94944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0906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Payment Funnel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6344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much booked revenue fails to convert into captured revenue, and why.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6974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EFF8F8"/>
          </a:solidFill>
          <a:ln/>
        </p:spPr>
      </p:sp>
      <p:sp>
        <p:nvSpPr>
          <p:cNvPr id="18" name="Text 14"/>
          <p:cNvSpPr/>
          <p:nvPr/>
        </p:nvSpPr>
        <p:spPr>
          <a:xfrm>
            <a:off x="84124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1069848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309067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With Statistics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1248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observed patterns (method vs. success, spend vs. method) are statistically real.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Linked Tables, One Transaction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habibakhan-3932/ecommerce-sales.sql — a relational MySQL dataset joined across customers, products, orders, order items, and payments.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4144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877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50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4592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244144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877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350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30352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6 CATEGORIES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244144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5877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2350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96112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36168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079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270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64592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 ITEMS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3712" y="436168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50799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270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530352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5528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4361688"/>
            <a:ext cx="566928" cy="566928"/>
          </a:xfrm>
          <a:prstGeom prst="ellipse">
            <a:avLst/>
          </a:prstGeom>
          <a:solidFill>
            <a:srgbClr val="EFF8F8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50799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4270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Jan–Nov 2025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896112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RANGE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 · REVENUE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 and Home &amp; Kitchen Anchor the Business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3886200" cy="4709160"/>
          </a:xfrm>
          <a:prstGeom prst="roundRect">
            <a:avLst>
              <a:gd name="adj" fmla="val 1882"/>
            </a:avLst>
          </a:prstGeom>
          <a:solidFill>
            <a:srgbClr val="EFF8F8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 — $81.3K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ahead of the #2 category, Home &amp; Kitchen.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0" y="3246120"/>
            <a:ext cx="329184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Create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66960" y="3794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$19,724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4178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Find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66960" y="4178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$17,438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45628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Time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66960" y="4562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$15,873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9560" y="4946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Attack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66960" y="49469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$13,488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09560" y="5330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Bill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966960" y="5330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$12,135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5852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trails every category despite premium unit prices — a volume problem, not a pricing one.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· DEMAND MOMENTUM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Held Steady All Year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monthly order count (Nov partial month in source data)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35240" y="1508760"/>
            <a:ext cx="3886200" cy="4709160"/>
          </a:xfrm>
          <a:prstGeom prst="roundRect">
            <a:avLst>
              <a:gd name="adj" fmla="val 1882"/>
            </a:avLst>
          </a:prstGeom>
          <a:solidFill>
            <a:srgbClr val="EFF8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SPEND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09560" y="21945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2194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Mcgrath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149840" y="21945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$2,773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09560" y="26700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66760" y="2670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Turner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49840" y="2670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$2,716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9560" y="314553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66760" y="3145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 Hughes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49840" y="31455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$2,653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09560" y="362102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9095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66760" y="36210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Brooke Mitchell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149840" y="36210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$2,378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09560" y="40965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9095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66760" y="4096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West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149840" y="4096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$2,224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09560" y="4663440"/>
            <a:ext cx="329184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48463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span 90+ countries with no single market over 3% of the base — demand is broad, not concentrated.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657600" cy="365760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Every Three Dollars Never Clear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8745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0F3D46"/>
          </a:solidFill>
          <a:ln/>
        </p:spPr>
      </p:sp>
      <p:sp>
        <p:nvSpPr>
          <p:cNvPr id="7" name="Shape 4"/>
          <p:cNvSpPr/>
          <p:nvPr/>
        </p:nvSpPr>
        <p:spPr>
          <a:xfrm>
            <a:off x="6172200" y="207568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311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$31,204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995160" y="2441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68 ORDERS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89320" y="310896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0F3D46"/>
          </a:solidFill>
          <a:ln/>
        </p:spPr>
      </p:sp>
      <p:sp>
        <p:nvSpPr>
          <p:cNvPr id="12" name="Shape 8"/>
          <p:cNvSpPr/>
          <p:nvPr/>
        </p:nvSpPr>
        <p:spPr>
          <a:xfrm>
            <a:off x="6172200" y="3310128"/>
            <a:ext cx="640080" cy="64008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46557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218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$33,327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699516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— 71 ORDERS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989320" y="434340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0F3D46"/>
          </a:solidFill>
          <a:ln/>
        </p:spPr>
      </p:sp>
      <p:sp>
        <p:nvSpPr>
          <p:cNvPr id="17" name="Shape 12"/>
          <p:cNvSpPr/>
          <p:nvPr/>
        </p:nvSpPr>
        <p:spPr>
          <a:xfrm>
            <a:off x="6172200" y="4544568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70001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4453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$24,935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6995160" y="4910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61 ORDERS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89320" y="562356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E8543F"/>
          </a:solidFill>
          <a:ln/>
        </p:spPr>
      </p:sp>
      <p:sp>
        <p:nvSpPr>
          <p:cNvPr id="22" name="Text 16"/>
          <p:cNvSpPr/>
          <p:nvPr/>
        </p:nvSpPr>
        <p:spPr>
          <a:xfrm>
            <a:off x="6217920" y="5669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$58,263 (65.1%) of transaction value is sitting in Failed or Pending status — this is the single largest lever in the business.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 · 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 Swings 18 Points by Payment Method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EFF8F8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GAP MEANS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194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best at 43.4% success.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worst at 25.6% — a 17.8-point gap on similar transaction volumes.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26680" y="3794760"/>
            <a:ext cx="356616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3977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Net Banking and UPI matched Debit Card's success rate, this dataset alone would recover an estimated $9,600+ in previously failed or pending value.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Hypotheses Worth Testing Rigorously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EFF8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208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· CHI-SQUARE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200" b="1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971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Payment outcome (Success / Failed / Pending) is independent of payment method.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402336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200" b="1" baseline="-4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Payment outcome depends on payment method.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both variables are categorical — this is a test of proportions across groups.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160020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EFF8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2082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· T-TEST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265176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200" b="1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20840" y="2971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Mean order value is equal for Debit Card and UPI transactions.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402336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200" b="1" baseline="-4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720840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Mean order value differs between Debit Card and UPI transactions.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3796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check whether the payment-method effect is about spend size or purely about conversion.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 of Independence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309360" cy="196596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  <a:gridCol w="10972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Card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Banking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9476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0A2E3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10.88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 = 6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0.092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931920" y="4114800"/>
            <a:ext cx="0" cy="1737360"/>
          </a:xfrm>
          <a:prstGeom prst="line">
            <a:avLst/>
          </a:prstGeom>
          <a:noFill/>
          <a:ln w="12700">
            <a:solidFill>
              <a:srgbClr val="1E5C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60520" y="416052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at the conventional 5% threshold, but close enough (p &lt; 0.10) to be directionally meaningful rather than random noise.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23760" y="1554480"/>
            <a:ext cx="4297680" cy="4526280"/>
          </a:xfrm>
          <a:prstGeom prst="roundRect">
            <a:avLst>
              <a:gd name="adj" fmla="val 1702"/>
            </a:avLst>
          </a:prstGeom>
          <a:solidFill>
            <a:srgbClr val="EFF8F8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21945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sample (n=200), we cannot formally reject H₀ at 5% significance — payment method's effect on outcome is suggestive, not proven. The pattern (Debit Card highest, Net Banking lowest) is consistent and business-relevant, but the sample per method (43–56 transactions) limits statistical power.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98080" y="4114800"/>
            <a:ext cx="374904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5720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strong hypothesis for a controlled A/B test on checkout flow, not yet as confirmed fact — re-test after collecting a larger transaction sample.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average order value: Debit Card vs. UPI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bars omitted for clarity — overlapping distributions shown by near-identical means below.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8745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0A2E36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2331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0.210      </a:t>
            </a:r>
            <a:pPr indent="0" marL="0">
              <a:buNone/>
            </a:pPr>
            <a:r>
              <a:rPr lang="en-US" sz="2200" b="1" dirty="0">
                <a:solidFill>
                  <a:srgbClr val="9FD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0.834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46520" y="2880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of mean difference: [–$101.51, +$125.85]  —  the interval spans zero.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65760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EFF8F8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4206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0.834 is far above 0.05, and the confidence interval crosses zero — we fail to reject H₀. There is no statistically significant difference in how much customers spend using Debit Card versus UPI.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5166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the revenue leak is a conversion / success-rate problem, not a customer-value problem — customers spend the same regardless of method, they just fail to complete the payment more often on some methods.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Story, Three Confirmed Facts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D4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84248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8541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85623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healthy and diversified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28600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and Home &amp; Kitchen lead a 6-category catalog; order volume is stable across 11 months with no concentration risk in any single customer or country.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D46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557016"/>
            <a:ext cx="822960" cy="82296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75818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4290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 funnel is where value is lost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74520" y="38587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 of transaction value ($58,263) sits in Failed or Pending status — far larger than any category-level revenue gap.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37176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D46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5129784"/>
            <a:ext cx="822960" cy="8229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33095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50017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conversion issue, confirmed statistically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74520" y="543153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(p=0.092) suggests method-linked failure patterns; the t-test (p=0.834) rules out spend size as the cause — success rate, not customer value, is the lever.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Recover the $58K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8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208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checkout A/B test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streamlined Net Banking / UPI flow against the current one; target closing the 18-point gap to Debit Card's 43.4% success rate.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8F8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185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real-time retry prompts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37960" y="2971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payment fails, immediately surface an alternate method — Debit Card first, given its proven reliability.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8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297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439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14400" y="49834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the Pending bucket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14400" y="53949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$24,935 (61 orders) is neither confirmed lost nor won — audit gateway logs to convert ambiguity into action.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8F8"/>
          </a:solidFill>
          <a:ln/>
        </p:spPr>
      </p:sp>
      <p:sp>
        <p:nvSpPr>
          <p:cNvPr id="23" name="Shape 18"/>
          <p:cNvSpPr/>
          <p:nvPr/>
        </p:nvSpPr>
        <p:spPr>
          <a:xfrm>
            <a:off x="6537960" y="4297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44398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18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537960" y="49834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the chi-square test at scale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37960" y="53949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90 more days of transactions, then re-test; a larger sample can turn today's p=0.092 signal into a confirmed p&lt;0.05 result.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 Path From Insight to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EFF8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Instrument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297180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181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900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gateway logs for Pending transactions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07822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502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failures by method, device, and region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503834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103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success rate by method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944" y="3803904"/>
            <a:ext cx="256032" cy="2560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434840" y="164592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0A2E36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1901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0916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Iterate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0360"/>
            <a:ext cx="2971800" cy="0"/>
          </a:xfrm>
          <a:prstGeom prst="line">
            <a:avLst/>
          </a:prstGeom>
          <a:noFill/>
          <a:ln w="12700">
            <a:solidFill>
              <a:srgbClr val="1E5C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31181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29900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A/B test on Net Banking / UPI checkout flow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09160" y="4078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39502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retry / alternate-method prompts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50383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49103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success-rate lift weekly against baseline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818120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3803904"/>
            <a:ext cx="256032" cy="25603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229600" y="164592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EFF8F8"/>
          </a:solidFill>
          <a:ln/>
        </p:spPr>
      </p:sp>
      <p:sp>
        <p:nvSpPr>
          <p:cNvPr id="29" name="Text 25"/>
          <p:cNvSpPr/>
          <p:nvPr/>
        </p:nvSpPr>
        <p:spPr>
          <a:xfrm>
            <a:off x="8503920" y="1901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50392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Scale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8503920" y="2880360"/>
            <a:ext cx="2971800" cy="0"/>
          </a:xfrm>
          <a:prstGeom prst="line">
            <a:avLst/>
          </a:prstGeom>
          <a:noFill/>
          <a:ln w="12700">
            <a:solidFill>
              <a:srgbClr val="DCE8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503920" y="31181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29"/>
          <p:cNvSpPr/>
          <p:nvPr/>
        </p:nvSpPr>
        <p:spPr>
          <a:xfrm>
            <a:off x="8732520" y="29900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chi-square test on the larger sample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503920" y="407822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1"/>
          <p:cNvSpPr/>
          <p:nvPr/>
        </p:nvSpPr>
        <p:spPr>
          <a:xfrm>
            <a:off x="8732520" y="39502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winning flow to 100% of traffic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503920" y="503834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3"/>
          <p:cNvSpPr/>
          <p:nvPr/>
        </p:nvSpPr>
        <p:spPr>
          <a:xfrm>
            <a:off x="8732520" y="49103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Reforecast recovered revenue for next quarter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LEAK  •  E-COMMERCE DATA STORY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727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the $58,263 checkout leak into recovered revenue.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2743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51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 Khan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Information Technology  ·  Aspiring Data Analyst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Power BI  ·  SQL</a:t>
            </a:r>
            <a:endParaRPr lang="en-US" sz="15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6400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github.com/habibakhan-3932</a:t>
            </a:r>
            <a:endParaRPr lang="en-US" sz="13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64008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linkedin.com/in/habiba-khan-02216a328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Checkout Leak — E-Commerce Data Story &amp; Statistical Validation</dc:title>
  <dc:subject>PptxGenJS Presentation</dc:subject>
  <dc:creator>Habiba Khan</dc:creator>
  <cp:lastModifiedBy>Habiba Khan</cp:lastModifiedBy>
  <cp:revision>1</cp:revision>
  <dcterms:created xsi:type="dcterms:W3CDTF">2026-07-04T14:16:12Z</dcterms:created>
  <dcterms:modified xsi:type="dcterms:W3CDTF">2026-07-04T14:16:12Z</dcterms:modified>
</cp:coreProperties>
</file>